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SBI DOST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8BDF8"/>
                </a:solidFill>
                <a:latin typeface="Calibri"/>
              </a:defRPr>
            </a:pPr>
            <a:r>
              <a:t>Autonomous Personal Finance Concierge &amp; Agentic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Unlocking Digital Engagement through Proactive Agentic Banking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1828800" cy="36576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SBI Hackathon @ Global Fintech Fest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Pillar: Digital Engagement  •  Theme: Agentic AI &amp; Emerging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Team: Jatin Garg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Calibri"/>
              </a:defRPr>
            </a:pPr>
            <a:r>
              <a:t>Live Demo: sbi-agentic-banking-hackathon.vercel.app   |   GitHub: github.com/JatinGargz/sbi-dost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0" y="6355080"/>
            <a:ext cx="12191695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SBI Dost  •  SBI Hackathon @ GFF 2026  •  Pillar: Digital 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Theme: Agentic AI &amp; Emerging 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29260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B221F"/>
                </a:solidFill>
                <a:latin typeface="Calibri"/>
              </a:defRPr>
            </a:pPr>
            <a:r>
              <a:t>The Digital Engagement Gap in Indian Banking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B6C65"/>
                </a:solidFill>
                <a:latin typeface="Calibri"/>
              </a:defRPr>
            </a:pPr>
            <a:r>
              <a:t>Banks are losing customers, revenue, and trust due to passive, reactive digital experiences.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6060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606040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B221F"/>
                </a:solidFill>
                <a:latin typeface="Calibri"/>
              </a:defRPr>
            </a:pPr>
            <a:r>
              <a:t>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221F"/>
                </a:solidFill>
                <a:latin typeface="Calibri"/>
              </a:defRPr>
            </a:pPr>
            <a:r>
              <a:t>Silent Financial Leakage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4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6C65"/>
                </a:solidFill>
                <a:latin typeface="Calibri"/>
              </a:defRPr>
            </a:pPr>
            <a:r>
              <a:t>Customers lose ₹10,000+ annually to forgotten recurring mandates (streaming, gym, cloud storage) that auto-debit without usage.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2377440"/>
            <a:ext cx="26060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39" y="2377440"/>
            <a:ext cx="260604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19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B221F"/>
                </a:solidFill>
                <a:latin typeface="Calibri"/>
              </a:defRPr>
            </a:pPr>
            <a:r>
              <a:t>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19" y="32004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221F"/>
                </a:solidFill>
                <a:latin typeface="Calibri"/>
              </a:defRPr>
            </a:pPr>
            <a:r>
              <a:t>Passive Account Engagement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19" y="374904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6C65"/>
                </a:solidFill>
                <a:latin typeface="Calibri"/>
              </a:defRPr>
            </a:pPr>
            <a:r>
              <a:t>Idle cash sits in savings accounts earning 3.0% when SBI FDs/MFs offer 6-8%. Banks miss cross-sell due to lack of proactive outreach.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377440"/>
            <a:ext cx="26060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59" y="2377440"/>
            <a:ext cx="260604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39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B221F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39" y="32004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221F"/>
                </a:solidFill>
                <a:latin typeface="Calibri"/>
              </a:defRPr>
            </a:pPr>
            <a:r>
              <a:t>Reactive Budget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39" y="374904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6C65"/>
                </a:solidFill>
                <a:latin typeface="Calibri"/>
              </a:defRPr>
            </a:pPr>
            <a:r>
              <a:t>Standard apps notify AFTER overspend. No mechanism exists to predict and prevent budget breaches in real-time.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377440"/>
            <a:ext cx="26060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98280" y="2377440"/>
            <a:ext cx="2606040" cy="54864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B221F"/>
                </a:solidFill>
                <a:latin typeface="Calibri"/>
              </a:defRPr>
            </a:pPr>
            <a:r>
              <a:t>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200400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B221F"/>
                </a:solidFill>
                <a:latin typeface="Calibri"/>
              </a:defRPr>
            </a:pPr>
            <a:r>
              <a:t>Support Desk Overload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749040"/>
            <a:ext cx="2240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6C65"/>
                </a:solidFill>
                <a:latin typeface="Calibri"/>
              </a:defRPr>
            </a:pPr>
            <a:r>
              <a:t>Multi-step queries (mandate blocking, audit, transfers) overwhelm call centers. 60% of tickets are automatable.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0" y="6355080"/>
            <a:ext cx="12191695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SBI Dost  •  SBI Hackathon @ GFF 2026  •  Pillar: Digital Engagement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Theme: Agentic AI &amp; Emerging Tech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B221F"/>
                </a:solidFill>
                <a:latin typeface="Calibri"/>
              </a:defRPr>
            </a:pPr>
            <a:r>
              <a:t>SBI Dost: Proactive, Secure, Agentic Banking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B6C65"/>
                </a:solidFill>
                <a:latin typeface="Calibri"/>
              </a:defRPr>
            </a:pPr>
            <a:r>
              <a:t>An autonomous AI concierge that monitors, advises, and acts — with full user control and transparency.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4864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221F"/>
                </a:solidFill>
                <a:latin typeface="Calibri"/>
              </a:defRPr>
            </a:pPr>
            <a:r>
              <a:t>🔍 Proactive Mandate Auditor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260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6C65"/>
                </a:solidFill>
                <a:latin typeface="Calibri"/>
              </a:defRPr>
            </a:pPr>
            <a:r>
              <a:t>Continuously monitors recurring auto-debit mandates. Detects subscriptions unused for 60/90/120 days. Recommends and executes cancellations under RBI guidelines (Policy S-812).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8600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2286000"/>
            <a:ext cx="54864" cy="182880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221F"/>
                </a:solidFill>
                <a:latin typeface="Calibri"/>
              </a:defRPr>
            </a:pPr>
            <a:r>
              <a:t>🧠 RAG-Powered Policy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9260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6C65"/>
                </a:solidFill>
                <a:latin typeface="Calibri"/>
              </a:defRPr>
            </a:pPr>
            <a:r>
              <a:t>Before executing any transfer, the agent queries a vector database of SBI policies. Validates transfer limits (Policy L-204: ₹20K daily cap), OTP thresholds, and beneficiary compliance.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54864" cy="18288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221F"/>
                </a:solidFill>
                <a:latin typeface="Calibri"/>
              </a:defRPr>
            </a:pPr>
            <a:r>
              <a:t>🛡️ Human-in-the-Loop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937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6C65"/>
                </a:solidFill>
                <a:latin typeface="Calibri"/>
              </a:defRPr>
            </a:pPr>
            <a:r>
              <a:t>All monetary actions require explicit user authorization via a visual OTP approval card. The agent plans, verifies, then HALTS for human confirmation before executing core banking APIs.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297680"/>
            <a:ext cx="5212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4297680"/>
            <a:ext cx="54864" cy="18288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480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221F"/>
                </a:solidFill>
                <a:latin typeface="Calibri"/>
              </a:defRPr>
            </a:pPr>
            <a:r>
              <a:t>📊 Reasoning Transparency Console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937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6C65"/>
                </a:solidFill>
                <a:latin typeface="Calibri"/>
              </a:defRPr>
            </a:pPr>
            <a:r>
              <a:t>Displays the agent's THOUGHT → ACTION → OBSERVATION chain directly to the user. Builds algorithmic trust by showing exactly how decisions are made — no black boxes.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0" y="6355080"/>
            <a:ext cx="12191695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SBI Dost  •  SBI Hackathon @ GFF 2026  •  Pillar: Digital Engagement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Theme: Agentic AI &amp; Emerging Tech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292608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B221F"/>
                </a:solidFill>
                <a:latin typeface="Calibri"/>
              </a:defRPr>
            </a:pPr>
            <a:r>
              <a:t>The ReAct (Reasoning &amp; Action) Agentic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719072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719072" cy="54864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6" y="2194560"/>
            <a:ext cx="548640" cy="54864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B221F"/>
                </a:solidFill>
                <a:latin typeface="Calibri"/>
              </a:defRPr>
            </a:pPr>
            <a:r>
              <a:t>User Query</a:t>
            </a:r>
            <a:br/>
            <a:r>
              <a:t>or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B6C65"/>
                </a:solidFill>
                <a:latin typeface="Consolas"/>
              </a:defRPr>
            </a:pPr>
            <a:r>
              <a:t>Natural language input</a:t>
            </a:r>
            <a:br/>
            <a:r>
              <a:t>or proactive anomaly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76272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9152" y="2011680"/>
            <a:ext cx="1719072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59152" y="2011680"/>
            <a:ext cx="1719072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44368" y="219456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0592" y="2926080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B221F"/>
                </a:solidFill>
                <a:latin typeface="Calibri"/>
              </a:defRPr>
            </a:pPr>
            <a:r>
              <a:t>Policy RAG</a:t>
            </a:r>
            <a:br/>
            <a:r>
              <a:t>Lookup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0592" y="35661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B6C65"/>
                </a:solidFill>
                <a:latin typeface="Consolas"/>
              </a:defRPr>
            </a:pPr>
            <a:r>
              <a:t>search_sbi_policy()</a:t>
            </a:r>
            <a:br/>
            <a:r>
              <a:t>fetches banking limits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8224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1104" y="2011680"/>
            <a:ext cx="1719072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61104" y="2011680"/>
            <a:ext cx="1719072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46320" y="21945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2544" y="2926080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B221F"/>
                </a:solidFill>
                <a:latin typeface="Calibri"/>
              </a:defRPr>
            </a:pPr>
            <a:r>
              <a:t>Balance &amp;</a:t>
            </a:r>
            <a:br/>
            <a:r>
              <a:t>Recipient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2544" y="35661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B6C65"/>
                </a:solidFill>
                <a:latin typeface="Consolas"/>
              </a:defRPr>
            </a:pPr>
            <a:r>
              <a:t>get_balance()</a:t>
            </a:r>
            <a:br/>
            <a:r>
              <a:t>check_recipient()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0176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2011680"/>
            <a:ext cx="1719072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63056" y="2011680"/>
            <a:ext cx="1719072" cy="54864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48272" y="2194560"/>
            <a:ext cx="548640" cy="5486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2926080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B221F"/>
                </a:solidFill>
                <a:latin typeface="Calibri"/>
              </a:defRPr>
            </a:pPr>
            <a:r>
              <a:t>Reasoning</a:t>
            </a:r>
            <a:br/>
            <a:r>
              <a:t>Trace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6" y="35661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B6C65"/>
                </a:solidFill>
                <a:latin typeface="Consolas"/>
              </a:defRPr>
            </a:pPr>
            <a:r>
              <a:t>THOUGHT → ACTION</a:t>
            </a:r>
            <a:br/>
            <a:r>
              <a:t>→ OBSERVATION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8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5008" y="2011680"/>
            <a:ext cx="1719072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65008" y="2011680"/>
            <a:ext cx="1719072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50224" y="219456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2926080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B221F"/>
                </a:solidFill>
                <a:latin typeface="Calibri"/>
              </a:defRPr>
            </a:pPr>
            <a:r>
              <a:t>HITL Security</a:t>
            </a:r>
            <a:br/>
            <a:r>
              <a:t>Guardrail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35661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B6C65"/>
                </a:solidFill>
                <a:latin typeface="Consolas"/>
              </a:defRPr>
            </a:pPr>
            <a:r>
              <a:t>OTP Approval</a:t>
            </a:r>
            <a:br/>
            <a:r>
              <a:t>Required &gt; ₹10,000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60" y="2011680"/>
            <a:ext cx="1719072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66960" y="2011680"/>
            <a:ext cx="1719072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552176" y="21945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2926080"/>
            <a:ext cx="15361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B221F"/>
                </a:solidFill>
                <a:latin typeface="Calibri"/>
              </a:defRPr>
            </a:pPr>
            <a:r>
              <a:t>API Execution</a:t>
            </a:r>
            <a:br/>
            <a:r>
              <a:t>&amp; Update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35661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B6C65"/>
                </a:solidFill>
                <a:latin typeface="Consolas"/>
              </a:defRPr>
            </a:pPr>
            <a:r>
              <a:t>execute_transfer()</a:t>
            </a:r>
            <a:br/>
            <a:r>
              <a:t>Budgets refreshed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846320"/>
            <a:ext cx="10698480" cy="1280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Calibri"/>
              </a:defRPr>
            </a:pPr>
            <a:r>
              <a:t>LIVE EXAMPLE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30352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onsolas"/>
              </a:defRPr>
            </a:pPr>
            <a:r>
              <a:t>User: "Settle my rent of ₹12,000"  →  THOUGHT: Check balance  →  ACTION: get_balance() → 45,000  →  THOUGHT: Within L-204 limits but &gt; 10K threshold  →  ACTION: search_sbi_policy()  →  HITL: OTP Card Shown  →  User Approves  →  ACTION: execute_transfer() → Success  →  Balance: ₹33,000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0" y="6355080"/>
            <a:ext cx="12191695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SBI Dost  •  SBI Hackathon @ GFF 2026  •  Pillar: Digital Engagement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Theme: Agentic AI &amp; Emerging Tech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2926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B221F"/>
                </a:solidFill>
                <a:latin typeface="Calibri"/>
              </a:defRPr>
            </a:pPr>
            <a:r>
              <a:t>Architecture &amp; Technology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4864" cy="82296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221F"/>
                </a:solidFill>
                <a:latin typeface="Calibri"/>
              </a:defRPr>
            </a:pPr>
            <a:r>
              <a:t>Frontend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965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CC"/>
                </a:solidFill>
                <a:latin typeface="Consolas"/>
              </a:defRPr>
            </a:pPr>
            <a:r>
              <a:t>Vite + React</a:t>
            </a:r>
            <a:br/>
            <a:r>
              <a:t>Vanilla 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745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6C65"/>
                </a:solidFill>
                <a:latin typeface="Calibri"/>
              </a:defRPr>
            </a:pPr>
            <a:r>
              <a:t>Tabbed multi-page SaaS dashboard</a:t>
            </a:r>
            <a:br/>
            <a:r>
              <a:t>with hybrid dark-peach theme,</a:t>
            </a:r>
            <a:br/>
            <a:r>
              <a:t>glassmorphic panels, micro-animations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61488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761488"/>
            <a:ext cx="54864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9864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221F"/>
                </a:solidFill>
                <a:latin typeface="Calibri"/>
              </a:defRPr>
            </a:pPr>
            <a:r>
              <a:t>Agent Core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9864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CC"/>
                </a:solidFill>
                <a:latin typeface="Consolas"/>
              </a:defRPr>
            </a:pPr>
            <a:r>
              <a:t>ReAct Loop</a:t>
            </a:r>
            <a:br/>
            <a:r>
              <a:t>(JavaScript)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80720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6C65"/>
                </a:solidFill>
                <a:latin typeface="Calibri"/>
              </a:defRPr>
            </a:pPr>
            <a:r>
              <a:t>Custom Reasoning &amp; Action loop:</a:t>
            </a:r>
            <a:br/>
            <a:r>
              <a:t>Thought → Plan → Tool Call</a:t>
            </a:r>
            <a:br/>
            <a:r>
              <a:t>→ Result → Response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94176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694176"/>
            <a:ext cx="54864" cy="8229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31336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221F"/>
                </a:solidFill>
                <a:latin typeface="Calibri"/>
              </a:defRPr>
            </a:pPr>
            <a:r>
              <a:t>Policy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831336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CC"/>
                </a:solidFill>
                <a:latin typeface="Consolas"/>
              </a:defRPr>
            </a:pPr>
            <a:r>
              <a:t>Vector Database</a:t>
            </a:r>
            <a:br/>
            <a:r>
              <a:t>(Chroma / pgvector)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739896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6C65"/>
                </a:solidFill>
                <a:latin typeface="Calibri"/>
              </a:defRPr>
            </a:pPr>
            <a:r>
              <a:t>Indexes SBI banking policies,</a:t>
            </a:r>
            <a:br/>
            <a:r>
              <a:t>FAQs, transfer circulars for</a:t>
            </a:r>
            <a:br/>
            <a:r>
              <a:t>dynamic policy verification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26864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626864"/>
            <a:ext cx="54864" cy="8229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764024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221F"/>
                </a:solidFill>
                <a:latin typeface="Calibri"/>
              </a:defRPr>
            </a:pPr>
            <a:r>
              <a:t>Security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76402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CC"/>
                </a:solidFill>
                <a:latin typeface="Consolas"/>
              </a:defRPr>
            </a:pPr>
            <a:r>
              <a:t>HITL Guardrails</a:t>
            </a:r>
            <a:br/>
            <a:r>
              <a:t>+ OTP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672584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6C65"/>
                </a:solidFill>
                <a:latin typeface="Calibri"/>
              </a:defRPr>
            </a:pPr>
            <a:r>
              <a:t>Blocks all debit APIs until</a:t>
            </a:r>
            <a:br/>
            <a:r>
              <a:t>explicit user authorization.</a:t>
            </a:r>
            <a:br/>
            <a:r>
              <a:t>Prompt injection guards.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59552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5559552"/>
            <a:ext cx="54864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69671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221F"/>
                </a:solidFill>
                <a:latin typeface="Calibri"/>
              </a:defRPr>
            </a:pPr>
            <a:r>
              <a:t>Mock APIs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69671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CC"/>
                </a:solidFill>
                <a:latin typeface="Consolas"/>
              </a:defRPr>
            </a:pPr>
            <a:r>
              <a:t>SBI Core Banking</a:t>
            </a:r>
            <a:br/>
            <a:r>
              <a:t>Simulator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605272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6C65"/>
                </a:solidFill>
                <a:latin typeface="Calibri"/>
              </a:defRPr>
            </a:pPr>
            <a:r>
              <a:t>Accounts, Transactions,</a:t>
            </a:r>
            <a:br/>
            <a:r>
              <a:t>Budgets, Mandates, Beneficiaries</a:t>
            </a:r>
            <a:br/>
            <a:r>
              <a:t>— fully stateful sandbox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0" y="6355080"/>
            <a:ext cx="12191695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SBI Dost  •  SBI Hackathon @ GFF 2026  •  Pillar: Digital Engagement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Theme: Agentic AI &amp; Emerging Tech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29260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USE CASE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B221F"/>
                </a:solidFill>
                <a:latin typeface="Calibri"/>
              </a:defRPr>
            </a:pPr>
            <a:r>
              <a:t>Proactive Subscription Leakage Detection &amp; Mandate Blocking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221F"/>
                </a:solidFill>
                <a:latin typeface="Calibri"/>
              </a:defRPr>
            </a:pPr>
            <a:r>
              <a:t>Agent Workflow (ReAct Trace):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66CC"/>
                </a:solidFill>
                <a:latin typeface="Consolas"/>
              </a:defRPr>
            </a:pPr>
            <a:r>
              <a:t>GOAL: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B221F"/>
                </a:solidFill>
                <a:latin typeface="Consolas"/>
              </a:defRPr>
            </a:pPr>
            <a:r>
              <a:t>Scan active recurring mandates for utilization leakage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onsolas"/>
              </a:defRPr>
            </a:pPr>
            <a:r>
              <a:t>THOUGHT: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788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B221F"/>
                </a:solidFill>
                <a:latin typeface="Consolas"/>
              </a:defRPr>
            </a:pPr>
            <a:r>
              <a:t>Checking RBI guidelines for mandate cancellation rights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onsolas"/>
              </a:defRPr>
            </a:pPr>
            <a:r>
              <a:t>ACTION: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2918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B221F"/>
                </a:solidFill>
                <a:latin typeface="Consolas"/>
              </a:defRPr>
            </a:pPr>
            <a:r>
              <a:t>search_sbi_policy('mandate cancellation') → Policy S-812: Customer can block mandates instantly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94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onsolas"/>
              </a:defRPr>
            </a:pPr>
            <a:r>
              <a:t>ACTION: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794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B221F"/>
                </a:solidFill>
                <a:latin typeface="Consolas"/>
              </a:defRPr>
            </a:pPr>
            <a:r>
              <a:t>get_subscriptions() → Found 3 active mandates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onsolas"/>
              </a:defRPr>
            </a:pPr>
            <a:r>
              <a:t>THOUGHT: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2976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B221F"/>
                </a:solidFill>
                <a:latin typeface="Consolas"/>
              </a:defRPr>
            </a:pPr>
            <a:r>
              <a:t>Streaming Premium unused for 120 days (₹699/mo). Gym unused for 75 days (₹1,500/mo)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00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Consolas"/>
              </a:defRPr>
            </a:pPr>
            <a:r>
              <a:t>RESPONSE: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8006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B221F"/>
                </a:solidFill>
                <a:latin typeface="Consolas"/>
              </a:defRPr>
            </a:pPr>
            <a:r>
              <a:t>Recommend blocking Streaming Premium. Annual savings: ₹8,388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onsolas"/>
              </a:defRPr>
            </a:pPr>
            <a:r>
              <a:t>ACTION: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3035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B221F"/>
                </a:solidFill>
                <a:latin typeface="Consolas"/>
              </a:defRPr>
            </a:pPr>
            <a:r>
              <a:t>cancel_subscription('Streaming Premium') → Success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828800"/>
            <a:ext cx="5029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221F"/>
                </a:solidFill>
                <a:latin typeface="Calibri"/>
              </a:defRPr>
            </a:pPr>
            <a:r>
              <a:t>Business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66CC"/>
                </a:solidFill>
                <a:latin typeface="Calibri"/>
              </a:defRPr>
            </a:pPr>
            <a:r>
              <a:t>₹8,388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9260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6C65"/>
                </a:solidFill>
                <a:latin typeface="Calibri"/>
              </a:defRPr>
            </a:pPr>
            <a:r>
              <a:t>Annual savings per customer from blocking 1 leaky mandate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38327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66CC"/>
                </a:solidFill>
                <a:latin typeface="Calibri"/>
              </a:defRPr>
            </a:pPr>
            <a:r>
              <a:t>120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74903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6C65"/>
                </a:solidFill>
                <a:latin typeface="Calibri"/>
              </a:defRPr>
            </a:pPr>
            <a:r>
              <a:t>Average idle time before Dost detects and flags mandate leakage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206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66CC"/>
                </a:solidFill>
                <a:latin typeface="Calibri"/>
              </a:defRPr>
            </a:pPr>
            <a:r>
              <a:t>Policy S-812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572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6C65"/>
                </a:solidFill>
                <a:latin typeface="Calibri"/>
              </a:defRPr>
            </a:pPr>
            <a:r>
              <a:t>RBI mandate allows instant digital cancellation — no vendor clearance needed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029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66CC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394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B6C65"/>
                </a:solidFill>
                <a:latin typeface="Calibri"/>
              </a:defRPr>
            </a:pPr>
            <a:r>
              <a:t>Estimated reduction in mandate-related support tickets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0" y="6355080"/>
            <a:ext cx="12191695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SBI Dost  •  SBI Hackathon @ GFF 2026  •  Pillar: Digital Engagement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Theme: Agentic AI &amp; Emerging Tech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292608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USE CASE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B221F"/>
                </a:solidFill>
                <a:latin typeface="Calibri"/>
              </a:defRPr>
            </a:pPr>
            <a:r>
              <a:t>Conversational Fund Transfer with RAG Policy Limits &amp; HITL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221F"/>
                </a:solidFill>
                <a:latin typeface="Calibri"/>
              </a:defRPr>
            </a:pPr>
            <a:r>
              <a:t>Agent Workflow (ReAct Trace):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66CC"/>
                </a:solidFill>
                <a:latin typeface="Consolas"/>
              </a:defRPr>
            </a:pPr>
            <a:r>
              <a:t>GOAL: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B221F"/>
                </a:solidFill>
                <a:latin typeface="Consolas"/>
              </a:defRPr>
            </a:pPr>
            <a:r>
              <a:t>Transfer ₹12,000 for monthly rent payment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6148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onsolas"/>
              </a:defRPr>
            </a:pPr>
            <a:r>
              <a:t>ACTION: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76148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B221F"/>
                </a:solidFill>
                <a:latin typeface="Consolas"/>
              </a:defRPr>
            </a:pPr>
            <a:r>
              <a:t>get_balance() → Balance: ₹45,000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369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onsolas"/>
              </a:defRPr>
            </a:pPr>
            <a:r>
              <a:t>ACTION: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23697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B221F"/>
                </a:solidFill>
                <a:latin typeface="Consolas"/>
              </a:defRPr>
            </a:pPr>
            <a:r>
              <a:t>search_sbi_policy('transfer limits') → Policy L-204: Daily cap ₹20,000. OTP required &gt; ₹10,000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124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onsolas"/>
              </a:defRPr>
            </a:pPr>
            <a:r>
              <a:t>THOUGHT: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71246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B221F"/>
                </a:solidFill>
                <a:latin typeface="Consolas"/>
              </a:defRPr>
            </a:pPr>
            <a:r>
              <a:t>₹12,000 is within daily cap but exceeds ₹10K OTP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87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onsolas"/>
              </a:defRPr>
            </a:pPr>
            <a:r>
              <a:t>ACTION: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1879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B221F"/>
                </a:solidFill>
                <a:latin typeface="Consolas"/>
              </a:defRPr>
            </a:pPr>
            <a:r>
              <a:t>check_recipient('Landlord') → Acc: XXXXXX3210, SBI, IFSC: SBIN0000001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Consolas"/>
              </a:defRPr>
            </a:pPr>
            <a:r>
              <a:t>⚠️ HITL: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663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B221F"/>
                </a:solidFill>
                <a:latin typeface="Consolas"/>
              </a:defRPr>
            </a:pPr>
            <a:r>
              <a:t>Authorization prompt dispatched → OTP Card shown to 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389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onsolas"/>
              </a:defRPr>
            </a:pPr>
            <a:r>
              <a:t>ACTION: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13892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B221F"/>
                </a:solidFill>
                <a:latin typeface="Consolas"/>
              </a:defRPr>
            </a:pPr>
            <a:r>
              <a:t>execute_transfer('Landlord', 12000) → TXN ID: SBI-482916354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144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onsolas"/>
              </a:defRPr>
            </a:pPr>
            <a:r>
              <a:t>RESULT: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61441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B221F"/>
                </a:solidFill>
                <a:latin typeface="Consolas"/>
              </a:defRPr>
            </a:pPr>
            <a:r>
              <a:t>New Balance: ₹33,000. Rent budget category updated.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828800"/>
            <a:ext cx="502920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🛡️ Human-in-the-Loop Security Guardrail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Transaction exceeds ₹10,000 threshold (Policy L-204). Explicit authorization required: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3108960"/>
            <a:ext cx="4389120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3291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Action: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291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Transfer Funds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Recipient: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703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Landlord Rent Account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114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Account: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114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XXXXXX3210 (SBI)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526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Amount: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₹12,000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0" y="5029200"/>
            <a:ext cx="201168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✓ Authorize &amp; Transfer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5029200"/>
            <a:ext cx="164592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F4444"/>
                </a:solidFill>
              </a:rPr>
              <a:t>✗ Cancel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0" y="6355080"/>
            <a:ext cx="12191695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SBI Dost  •  SBI Hackathon @ GFF 2026  •  Pillar: Digital Engagement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Theme: Agentic AI &amp; Emerging Tech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B221F"/>
                </a:solidFill>
                <a:latin typeface="Calibri"/>
              </a:defRPr>
            </a:pPr>
            <a:r>
              <a:t>Commercial Potential &amp; Revenue Drivers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3949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394960" cy="54864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B221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221F"/>
                </a:solidFill>
                <a:latin typeface="Calibri"/>
              </a:defRPr>
            </a:pPr>
            <a:r>
              <a:t>Fee Income via Cross-Selling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6C65"/>
                </a:solidFill>
                <a:latin typeface="Calibri"/>
              </a:defRPr>
            </a:pPr>
            <a:r>
              <a:t>Identifies idle balances and proactively recommends SBI Mutual Funds, Fixed Deposits, and Insurance. Increases digital product cross-sell conversion by contextualizing offers.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53949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39496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B221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057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221F"/>
                </a:solidFill>
                <a:latin typeface="Calibri"/>
              </a:defRPr>
            </a:pPr>
            <a:r>
              <a:t>Increased AUM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0604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6C65"/>
                </a:solidFill>
                <a:latin typeface="Calibri"/>
              </a:defRPr>
            </a:pPr>
            <a:r>
              <a:t>Goal-based micro-savings auto-routes round-ups and excess cash into SBI wealth products, growing total assets under management.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53949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5394960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B221F"/>
                </a:solidFill>
                <a:latin typeface="Calibri"/>
              </a:defRPr>
            </a:pPr>
            <a:r>
              <a:t>❤️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434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221F"/>
                </a:solidFill>
                <a:latin typeface="Calibri"/>
              </a:defRPr>
            </a:pPr>
            <a:r>
              <a:t>Customer Retention (LTV)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9834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6C65"/>
                </a:solidFill>
                <a:latin typeface="Calibri"/>
              </a:defRPr>
            </a:pPr>
            <a:r>
              <a:t>Proactive financial health monitoring (leakage detection, budget alerts) transforms SBI from a utility into a trusted wealth partner. Higher NPS, lower churn.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206240"/>
            <a:ext cx="53949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5080" y="4206240"/>
            <a:ext cx="539496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B221F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434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221F"/>
                </a:solidFill>
                <a:latin typeface="Calibri"/>
              </a:defRPr>
            </a:pPr>
            <a:r>
              <a:t>Support Cost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9834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6C65"/>
                </a:solidFill>
                <a:latin typeface="Calibri"/>
              </a:defRPr>
            </a:pPr>
            <a:r>
              <a:t>Autonomously resolves mandate blocks, transaction audits, budget checks, and transfers. Reduces call center ticket volume by 35-40%.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0" y="6355080"/>
            <a:ext cx="12191695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SBI Dost  •  SBI Hackathon @ GFF 2026  •  Pillar: Digital Engagement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Theme: Agentic AI &amp; Emerging Tech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011680" cy="2926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LIVE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B221F"/>
                </a:solidFill>
                <a:latin typeface="Calibri"/>
              </a:defRPr>
            </a:pPr>
            <a:r>
              <a:t>Fully Functional Interactive Dashboard — Ready for Phase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221F"/>
                </a:solidFill>
                <a:latin typeface="Calibri"/>
              </a:defRPr>
            </a:pPr>
            <a:r>
              <a:t>📊 Overview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6C65"/>
                </a:solidFill>
                <a:latin typeface="Calibri"/>
              </a:defRPr>
            </a:pPr>
            <a:r>
              <a:t>Real-time balance metrics, transaction log table, budget alert progress bars, and proactive agent notification cards.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8288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221F"/>
                </a:solidFill>
                <a:latin typeface="Calibri"/>
              </a:defRPr>
            </a:pPr>
            <a:r>
              <a:t>🤖 AI Dost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6C65"/>
                </a:solidFill>
                <a:latin typeface="Calibri"/>
              </a:defRPr>
            </a:pPr>
            <a:r>
              <a:t>Conversational chat with live ReAct reasoning console showing THOUGHT → ACTION → OBSERVATION traces.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43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221F"/>
                </a:solidFill>
                <a:latin typeface="Calibri"/>
              </a:defRPr>
            </a:pPr>
            <a:r>
              <a:t>📋 Mandate Auditor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6C65"/>
                </a:solidFill>
                <a:latin typeface="Calibri"/>
              </a:defRPr>
            </a:pPr>
            <a:r>
              <a:t>Tabular audit of all recurring auto-debits with idle-day tracking, leakage risk badges, and one-click mandate blocking.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1148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C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343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B221F"/>
                </a:solidFill>
                <a:latin typeface="Calibri"/>
              </a:defRPr>
            </a:pPr>
            <a:r>
              <a:t>💹 Budgets &amp; Goals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8463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6C65"/>
                </a:solidFill>
                <a:latin typeface="Calibri"/>
              </a:defRPr>
            </a:pPr>
            <a:r>
              <a:t>Category budget trackers (Dining, Shopping, Rent), savings goal progress, and yield optimization recommendations.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0" y="6355080"/>
            <a:ext cx="12191695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SBI Dost  •  SBI Hackathon @ GFF 2026  •  Pillar: Digital Engagement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Theme: Agentic AI &amp; Emerging Tech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560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8BDF8"/>
                </a:solidFill>
                <a:latin typeface="Calibri"/>
              </a:defRPr>
            </a:pPr>
            <a:r>
              <a:t>SBI Dost — Autonomous Personal Finance Concierge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3383280"/>
            <a:ext cx="2286000" cy="36576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Live Demo: sbi-agentic-banking-hackathon.vercel.app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GitHub: github.com/JatinGargz/sbi-dost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846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Team: Jatin Garg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303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Pillar: Digital Engagement  •  Theme: Agentic AI &amp; Emerging Tech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0" y="6355080"/>
            <a:ext cx="12191695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SBI Dost  •  SBI Hackathon @ GFF 2026  •  Pillar: Digital 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Theme: Agentic AI &amp; Emerging 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